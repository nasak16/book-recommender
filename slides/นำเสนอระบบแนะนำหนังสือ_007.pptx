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60120"/>
            <a:ext cx="91440" cy="137160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4300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Leelawadee UI"/>
              </a:rPr>
              <a:t>งาน: พัฒนาระบบแนะนำเป็นระบบของตัวเอง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8016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5400" b="1">
                <a:solidFill>
                  <a:srgbClr val="E9EFFA"/>
                </a:solidFill>
                <a:latin typeface="Leelawadee UI"/>
              </a:rPr>
              <a:t>ระบบแนะนำหนังสือ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1">
                <a:solidFill>
                  <a:srgbClr val="FF8833"/>
                </a:solidFill>
                <a:latin typeface="Leelawadee UI"/>
              </a:rPr>
              <a:t>BOOK RECOMMENDER SYSTEM · Neo4j (Graph DB) +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>
                <a:solidFill>
                  <a:srgbClr val="E9EFFA"/>
                </a:solidFill>
                <a:latin typeface="Leelawadee UI"/>
              </a:rPr>
              <a:t>ข้อมูลของเราเอง 12 คน × 28 เล่ม × 51 ความชอบ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>
                <a:solidFill>
                  <a:srgbClr val="E9EFFA"/>
                </a:solidFill>
                <a:latin typeface="Leelawadee UI"/>
              </a:rPr>
              <a:t>ผลการแนะนำแสดง “ภาพปกหนังสือจริง” ทุกครั้ง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>
                <a:solidFill>
                  <a:srgbClr val="E9EFFA"/>
                </a:solidFill>
                <a:latin typeface="Leelawadee UI"/>
              </a:rPr>
              <a:t>มีทั้งโน๊ตบุ๊กอธิบายวิธีทำ (Colab), เว็บแอปสาธิต และสไลด์ชุดนี้บน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709160"/>
            <a:ext cx="2103120" cy="1143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48554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Leelawade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3675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ผู้ใช้ในระบบ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709160"/>
            <a:ext cx="2103120" cy="1143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20440" y="48554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Leelawadee U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3675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หนังสือ (14 หมวด)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4709160"/>
            <a:ext cx="2103120" cy="1143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97880" y="48554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34D399"/>
                </a:solidFill>
                <a:latin typeface="Leelawadee UI"/>
              </a:rPr>
              <a:t>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53675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ความชอบ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709160"/>
            <a:ext cx="2103120" cy="1143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20" y="48554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FF8833"/>
                </a:solidFill>
                <a:latin typeface="Leelawadee UI"/>
              </a:rPr>
              <a:t>3+1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3675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วิธีให้คะแนน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61264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9FB0CB"/>
                </a:solidFill>
                <a:latin typeface="Leelawadee UI"/>
              </a:rPr>
              <a:t>จัดทำโดย: รหัส 007 · วิชา ______________ · วันที่ ____/____/______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หัวข้อที่จะนำเสนอ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71600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5389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โจทย์และสิ่งที่ส่ง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55648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งาน 4 ข้อของอาจารย์ → ส่งครบอะไรบ้าง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212848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29514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แนวคิดระบบแนะนำบนกราฟ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596896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ทำไมข้อมูล “ใครชอบอะไร” ต้องใช้กราฟ + การเดิน 3 hop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054096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1821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136391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ข้อมูลและสถาปัตยกรรม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438144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ข้อมูลชุดของเรา + Neo4j + Streamlit + GitHub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895344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4023359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977639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ระบบทำงานจริง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279392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ผลการแนะนำ 3 วิธี + ภาพปก + เหตุผลย้อนหลังได้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73659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4864607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818888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สาธิตการใช้งาน (เดโมสด)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120640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เพิ่มความชอบแล้วคำแนะนำเปลี่ยนทันทีโดยไม่ต้องเทรนใหม่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577840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70585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66013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การทดสอบและลิงก์งาน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961888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ผลตรวจสอบจริง + Colab + GitHub + หน้า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โจทย์ &amp; สิ่งที่ส่ง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งานที่อาจารย์สั่ง 4 ข้อ — ส่งครบทุกข้อ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71600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1371600"/>
            <a:ext cx="68580" cy="10058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153619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>
                <a:solidFill>
                  <a:srgbClr val="FF8833"/>
                </a:solidFill>
                <a:latin typeface="Leelawade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9961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E9EFFA"/>
                </a:solidFill>
                <a:latin typeface="Leelawadee UI"/>
              </a:rPr>
              <a:t>Present ด้วย PowerPoint + สาธิตการใช้งานระบบ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019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9FB0CB"/>
                </a:solidFill>
                <a:latin typeface="Leelawadee UI"/>
              </a:rPr>
              <a:t>สไลด์ 16 หน้า (ไฟล์นี้) + เดโมสดในแอป + ใส่ภาพในระบบแนะนำจริง (หน้าปกหนังสือ)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542032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49808" y="2542032"/>
            <a:ext cx="68580" cy="10058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270662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>
                <a:solidFill>
                  <a:srgbClr val="FF8833"/>
                </a:solidFill>
                <a:latin typeface="Leelawade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7004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E9EFFA"/>
                </a:solidFill>
                <a:latin typeface="Leelawadee UI"/>
              </a:rPr>
              <a:t>ข้อมูล PowerPoint ไว้ใน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07238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9FB0CB"/>
                </a:solidFill>
                <a:latin typeface="Leelawadee UI"/>
              </a:rPr>
              <a:t>ใส่ทั้ง .pptx และ .pdf ในโฟลเดอร์ slides/ ของ repo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712464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49808" y="3712464"/>
            <a:ext cx="68580" cy="10058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20" y="3877056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>
                <a:solidFill>
                  <a:srgbClr val="FF8833"/>
                </a:solidFill>
                <a:latin typeface="Leelawade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8404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E9EFFA"/>
                </a:solidFill>
                <a:latin typeface="Leelawadee UI"/>
              </a:rPr>
              <a:t>เอาการบ้านทุกอันไว้ใน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24281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9FB0CB"/>
                </a:solidFill>
                <a:latin typeface="Leelawadee UI"/>
              </a:rPr>
              <a:t>ทุกชิ้นงานมี repo ของตัวเอง + โฟลเดอร์กลาง homework รวมลิงก์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882896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49808" y="4882896"/>
            <a:ext cx="68580" cy="10058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20" y="50474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>
                <a:solidFill>
                  <a:srgbClr val="FF8833"/>
                </a:solidFill>
                <a:latin typeface="Leelawade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01091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E9EFFA"/>
                </a:solidFill>
                <a:latin typeface="Leelawadee UI"/>
              </a:rPr>
              <a:t>จัดหน้า index ให้ลิงก์กับงานทุกอัน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41324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9FB0CB"/>
                </a:solidFill>
                <a:latin typeface="Leelawadee UI"/>
              </a:rPr>
              <a:t>หน้าเว็บ index.html บน GitHub Pages ลิงก์ทุก 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แนวคิด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ทำไมต้องใช้ฐานข้อมูลกราฟ?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0">
                <a:solidFill>
                  <a:srgbClr val="E9EFFA"/>
                </a:solidFill>
                <a:latin typeface="Leelawadee UI"/>
              </a:rPr>
              <a:t>ข้อมูล “ใครชอบหนังสือเล่มไหน” เป็นเรื่องของความสัมพันธ์ — ถ้าเก็บเป็นตาราง จะต้อง JOIN หลายชั้นกว่าจะได้คำตอบ แต่ในกราฟเขียนครั้งเดียวจบ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65960"/>
            <a:ext cx="5577840" cy="2148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5212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คำแนะนำทั้งระบบเขียนด้วย Cypher ไม่กี่บรรทัด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50008"/>
            <a:ext cx="5212079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(me:User {user: 'สมชาย'})-[:LIKES]-&gt;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      (shared:Book)&lt;-[:LIKES]-(other:User)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(other)-[:LIKES]-&gt;(rec:Book)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WHERE NOT (me)-[:LIKES]-&gt;(rec)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RETURN rec.title, count(DISTINCT other) AS votes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ORDER BY votes DESC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062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FF8833"/>
                </a:solidFill>
                <a:latin typeface="Leelawadee UI"/>
              </a:rPr>
              <a:t>ขั้นตอนการเดิน 3 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526280"/>
            <a:ext cx="5577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1. ดูหนังสือที่ผู้ใช้ชอบ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2. หาคนอื่นที่ชอบเล่มเดียวกัน = รสนิยมใกล้กัน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3. ดูเล่มอื่นที่คนกลุ่มนั้นชอบ (ที่เรายังไม่ชอบ)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4. นับ/ให้คะแนน → เรียงอันดับ = คำแนะนำ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234440"/>
            <a:ext cx="4846320" cy="48006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0" y="13716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FF8833"/>
                </a:solidFill>
                <a:latin typeface="Leelawadee UI"/>
              </a:rPr>
              <a:t>ตัวอย่างจริง: สมชาย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783080"/>
            <a:ext cx="43891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9FB0CB"/>
                </a:solidFill>
                <a:latin typeface="Leelawadee UI"/>
              </a:rPr>
              <a:t>ชอบอยู่แล้ว 4 เล่ม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Harry Potter · The Hobbit · LOTR · Da Vinci Code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9FB0CB"/>
                </a:solidFill>
                <a:latin typeface="Leelawadee UI"/>
              </a:rPr>
              <a:t>คนรสนิยมใกล้ (Jaccard)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นรินทร์ 0.500 (ชอบร่วม 3 เล่ม)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มะลิ 0.333 (ชอบร่วม 2 เล่ม)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พลอย 0.143 (ชอบร่วม 1 เล่ม)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9FB0CB"/>
                </a:solidFill>
                <a:latin typeface="Leelawadee UI"/>
              </a:rPr>
              <a:t>ระบบแนะนำ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Leelawadee UI"/>
              </a:rPr>
              <a:t>The Hunger Games — 0.833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Dune — 0.500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The Lightning Thief — 0.333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เพราะมะลิกับนรินทร์ต่างชอบ Hunger Games ทั้งคู่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ข้อมูลชุดของเรา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12 คน × 28 เล่ม × 51 ความชอบ (เก็บเอง ไม่ใช้ dataset สำเร็จรูป)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34440"/>
            <a:ext cx="1325880" cy="109728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380744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Leelawade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9280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ผู้ใช้ (เพื่อนในห้อง)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136" y="1234440"/>
            <a:ext cx="1325880" cy="109728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231136" y="1380744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Leelawadee U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189280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หนังสือ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4" y="1234440"/>
            <a:ext cx="1325880" cy="109728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12464" y="1380744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34D399"/>
                </a:solidFill>
                <a:latin typeface="Leelawadee U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189280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หมวดหนังสือ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1234440"/>
            <a:ext cx="1325880" cy="109728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93792" y="1380744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FF8833"/>
                </a:solidFill>
                <a:latin typeface="Leelawadee UI"/>
              </a:rPr>
              <a:t>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189280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ความสัมพันธ์ LIKES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51460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50" b="0">
                <a:solidFill>
                  <a:srgbClr val="E9EFFA"/>
                </a:solidFill>
                <a:latin typeface="Leelawadee UI"/>
              </a:rPr>
              <a:t>ปกหนังสือทุกเล่มดึงจาก Open Library (ฟรี ไม่ต้องใช้ API key) แล้วเก็บไฟล์ไว้ในโปรเจกต์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50" b="0">
                <a:solidFill>
                  <a:srgbClr val="9FB0CB"/>
                </a:solidFill>
                <a:latin typeface="Leelawadee UI"/>
              </a:rPr>
              <a:t>→ ภาพยังแสดงได้แม้ไม่มีอินเทอร์เน็ต และเปิดใน Colab ก็เห็นภาพ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หมวด: แฟนตาซี · ไซไฟ · สืบสวน · พัฒนาตัวเอง · การเงิน · การ์ตูน · คลาสสิก ฯลฯ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114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FF8833"/>
                </a:solidFill>
                <a:latin typeface="Leelawadee UI"/>
              </a:rPr>
              <a:t>ขั้นตอนเตรียมข้อมูล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457200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4480560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ค้นหาแต่ละเล่มใน Open Library API → ได้ ISBN + รหัสภาพปก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4901184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7552" y="4809744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ดาวน์โหลดภาพปกเก็บเป็น asset ของ repo (ตรวจด้วยตาว่าตรงเรื่องทุกเล่ม)</a:t>
            </a:r>
          </a:p>
        </p:txBody>
      </p:sp>
      <p:sp>
        <p:nvSpPr>
          <p:cNvPr id="26" name="Oval 25"/>
          <p:cNvSpPr/>
          <p:nvPr/>
        </p:nvSpPr>
        <p:spPr>
          <a:xfrm>
            <a:off x="749808" y="5230368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87552" y="5138928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กำหนดความชอบของ 12 คนให้มีกลุ่มรสนิยมชัดเจน และไม่มีหนังสือเล่มไหนไร้เจ้าของ</a:t>
            </a:r>
          </a:p>
        </p:txBody>
      </p:sp>
      <p:pic>
        <p:nvPicPr>
          <p:cNvPr id="28" name="Picture 27" descr="cover_sheet.png"/>
          <p:cNvPicPr>
            <a:picLocks noChangeAspect="1"/>
          </p:cNvPicPr>
          <p:nvPr/>
        </p:nvPicPr>
        <p:blipFill>
          <a:blip r:embed="rId2"/>
          <a:srcRect l="5379" r="5379"/>
          <a:stretch>
            <a:fillRect/>
          </a:stretch>
        </p:blipFill>
        <p:spPr>
          <a:xfrm>
            <a:off x="6446520" y="1234440"/>
            <a:ext cx="5029200" cy="4937760"/>
          </a:xfrm>
          <a:prstGeom prst="rect">
            <a:avLst/>
          </a:prstGeom>
          <a:ln w="12700">
            <a:solidFill>
              <a:srgbClr val="2B3A5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สถาปัตยกรรม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ระบบประกอบด้วย 4 ส่วน และทุกส่วนอยู่บน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606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38BDF8"/>
                </a:solidFill>
                <a:latin typeface="Leelawadee UI"/>
              </a:rPr>
              <a:t>Colab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ทดลอง + อธิบายวิธีทำ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Cypher ทีละขั้น มีผลรันจริงฝังในไฟล์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37160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310128" y="1371600"/>
            <a:ext cx="2606040" cy="82296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11296" y="16002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FF8833"/>
                </a:solidFill>
                <a:latin typeface="Leelawadee UI"/>
              </a:rPr>
              <a:t>Neo4j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14884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ฐานข้อมูลกราฟ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12 User · 28 Book · 14 Genre · 51 LIKES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37160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63056" y="1371600"/>
            <a:ext cx="2606040" cy="822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64224" y="16002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34D399"/>
                </a:solidFill>
                <a:latin typeface="Leelawadee UI"/>
              </a:rPr>
              <a:t>Streamlit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4884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หน้าจอสาธิต 5 แท็บ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การ์ดภาพปก · กราฟ · เดโมสด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137160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015984" y="1371600"/>
            <a:ext cx="26060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17152" y="16002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FBBF24"/>
                </a:solidFill>
                <a:latin typeface="Leelawadee UI"/>
              </a:rPr>
              <a:t>GitHub +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14884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repo ระบบ + โฟลเดอร์ homework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หน้า index รวมลิงก์งานทุกชิ้น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233172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9FB0CB"/>
                </a:solidFill>
                <a:latin typeface="Leelawadee UI"/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6" y="233172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9FB0CB"/>
                </a:solidFill>
                <a:latin typeface="Leelawadee UI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233172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9FB0CB"/>
                </a:solidFill>
                <a:latin typeface="Leelawadee UI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977639"/>
            <a:ext cx="1069848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0120" y="41148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การไหลของข้อมูล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10241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38BDF8"/>
                </a:solidFill>
                <a:latin typeface="Leelawadee UI"/>
              </a:rPr>
              <a:t>① เตรียมข้อมูล</a:t>
            </a:r>
            <a:r>
              <a:rPr sz="1200" b="0">
                <a:solidFill>
                  <a:srgbClr val="E9EFFA"/>
                </a:solidFill>
                <a:latin typeface="Leelawadee UI"/>
              </a:rPr>
              <a:t> — สคริปต์ดึงข้อมูล + ภาพปกจาก Open Library → data/books.json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FF8833"/>
                </a:solidFill>
                <a:latin typeface="Leelawadee UI"/>
              </a:rPr>
              <a:t>② โหลดเข้า Neo4j</a:t>
            </a:r>
            <a:r>
              <a:rPr sz="1200" b="0">
                <a:solidFill>
                  <a:srgbClr val="E9EFFA"/>
                </a:solidFill>
                <a:latin typeface="Leelawadee UI"/>
              </a:rPr>
              <a:t> — MERGE โหนด/ความสัมพันธ์ + สร้าง constraint กันข้อมูลซ้ำ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34D399"/>
                </a:solidFill>
                <a:latin typeface="Leelawadee UI"/>
              </a:rPr>
              <a:t>③ ให้บริการคำแนะนำ</a:t>
            </a:r>
            <a:r>
              <a:rPr sz="1200" b="0">
                <a:solidFill>
                  <a:srgbClr val="E9EFFA"/>
                </a:solidFill>
                <a:latin typeface="Leelawadee UI"/>
              </a:rPr>
              <a:t> — Cypher 3 วิธี + วิธีผสม (ถ่วงน้ำหนัก Jaccard)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FBBF24"/>
                </a:solidFill>
                <a:latin typeface="Leelawadee UI"/>
              </a:rPr>
              <a:t>④ แสดงผล</a:t>
            </a:r>
            <a:r>
              <a:rPr sz="1200" b="0">
                <a:solidFill>
                  <a:srgbClr val="E9EFFA"/>
                </a:solidFill>
                <a:latin typeface="Leelawadee UI"/>
              </a:rPr>
              <a:t> — Streamlit แสดงการ์ดภาพปก + กราฟ + เดโมสดแก้ข้อมูลในฐานข้อมูลจริง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โครงสร้างข้อมูล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สคีมากราฟและคำสั่งที่ใช้จริง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3444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FF8833"/>
                </a:solidFill>
                <a:latin typeface="Leelawadee UI"/>
              </a:rPr>
              <a:t>(User)</a:t>
            </a:r>
            <a:r>
              <a:rPr sz="1300" b="0">
                <a:solidFill>
                  <a:srgbClr val="9FB0CB"/>
                </a:solidFill>
                <a:latin typeface="Leelawadee UI"/>
              </a:rPr>
              <a:t>  -[:LIKES]-&gt;  </a:t>
            </a:r>
            <a:r>
              <a:rPr sz="1600" b="1">
                <a:solidFill>
                  <a:srgbClr val="FBBF24"/>
                </a:solidFill>
                <a:latin typeface="Leelawadee UI"/>
              </a:rPr>
              <a:t>(Book)</a:t>
            </a:r>
            <a:r>
              <a:rPr sz="1300" b="0">
                <a:solidFill>
                  <a:srgbClr val="9FB0CB"/>
                </a:solidFill>
                <a:latin typeface="Leelawadee UI"/>
              </a:rPr>
              <a:t>  -[:IN_GENRE]-&gt;  </a:t>
            </a:r>
            <a:r>
              <a:rPr sz="1600" b="1">
                <a:solidFill>
                  <a:srgbClr val="34D399"/>
                </a:solidFill>
                <a:latin typeface="Leelawadee UI"/>
              </a:rPr>
              <a:t>(Genre)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บุคลิกของข้อมูล: ผู้ใช้ → ความชอบ → หนังสือ → หมวด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FF8833"/>
                </a:solidFill>
                <a:latin typeface="Leelawadee UI"/>
              </a:rPr>
              <a:t>ข้อดีที่ได้จากโครงสร้างนี้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20040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3108960"/>
            <a:ext cx="4882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ถามจากโหนดไหนก็ได้ ไม่ต้อง JOIN หลายตาราง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56616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7552" y="3474720"/>
            <a:ext cx="4882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เพิ่มคน/หนังสือใหม่ = เพิ่มโหนด ไม่ต้องแก้โครงสร้าง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93192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" y="3840480"/>
            <a:ext cx="4882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โหนด Genre เป็นทั้ง “สัญญาณที่สอง” และตัวช่วยแก้ cold 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34440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5080" y="1344168"/>
            <a:ext cx="493775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Cypher ตัวอย่าง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18488"/>
            <a:ext cx="4937759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(u:User)-[:LIKES]-&gt;(b:Book)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RETURN u.user AS user, count(b) AS books_liked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ORDER BY books_liked DESC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// จำนวนจริงในฐานข้อมูล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// User 12 · Book 28 · Genre 14 · LIKES 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49039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5080" y="3858768"/>
            <a:ext cx="493775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กันข้อมูลซ้ำตอนโหลด (constraint + MERGE)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33087"/>
            <a:ext cx="4937759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CREATE CONSTRAINT user_name IF NOT EXISTS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FOR (u:User) REQUIRE u.user IS UNIQUE;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UNWIND $rows AS row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MERGE (u:User {user: row.user})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SET u.age = row.age, u.group = row.group;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ระบบทำงานจริง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หน้าแนะนำหนังสือ — มีภาพปกในระบบแนะนำตามโจทย์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8</a:t>
            </a:r>
          </a:p>
        </p:txBody>
      </p:sp>
      <p:pic>
        <p:nvPicPr>
          <p:cNvPr id="8" name="Picture 7" descr="app_reco.png"/>
          <p:cNvPicPr>
            <a:picLocks noChangeAspect="1"/>
          </p:cNvPicPr>
          <p:nvPr/>
        </p:nvPicPr>
        <p:blipFill>
          <a:blip r:embed="rId2"/>
          <a:srcRect t="12296" b="12296"/>
          <a:stretch>
            <a:fillRect/>
          </a:stretch>
        </p:blipFill>
        <p:spPr>
          <a:xfrm>
            <a:off x="749808" y="1207008"/>
            <a:ext cx="7452360" cy="4937760"/>
          </a:xfrm>
          <a:prstGeom prst="rect">
            <a:avLst/>
          </a:prstGeom>
          <a:ln w="12700">
            <a:solidFill>
              <a:srgbClr val="2B3A5C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412480" y="1207008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95360" y="131673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Leelawadee U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335024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Leelawadee UI"/>
              </a:rPr>
              <a:t>การ์ดแนะนำ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682496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ภาพปก + ชื่อเรื่อง + ผู้เขียน + หมวด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468880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0" y="257860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800" b="1">
                <a:solidFill>
                  <a:srgbClr val="FBBF24"/>
                </a:solidFill>
                <a:latin typeface="Leelawadee UI"/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59689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FBBF24"/>
                </a:solidFill>
                <a:latin typeface="Leelawadee UI"/>
              </a:rPr>
              <a:t>คะแนน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9443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มาจากความคล้ายของคนที่ชอบเล่มนี้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730752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95360" y="38404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800" b="1">
                <a:solidFill>
                  <a:srgbClr val="38BDF8"/>
                </a:solidFill>
                <a:latin typeface="Leelawadee U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858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38BDF8"/>
                </a:solidFill>
                <a:latin typeface="Leelawadee UI"/>
              </a:rPr>
              <a:t>เหตุผล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2062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บอกชื่อเพื่อนและเล่มที่ชอบร่วมกัน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4992624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0" y="510235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800" b="1">
                <a:solidFill>
                  <a:srgbClr val="FF8833"/>
                </a:solidFill>
                <a:latin typeface="Leelawadee UI"/>
              </a:rPr>
              <a:t>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5120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FF8833"/>
                </a:solidFill>
                <a:latin typeface="Leelawadee UI"/>
              </a:rPr>
              <a:t>ข้อมูลตั้งต้น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468112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แสดงหนังสือที่ผู้ใช้ชอบอยู่แล้ว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ระบบทำงานจริง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ให้คะแนน 3 วิธี + วิธีผสม — ผลจริงของผู้ใช้ “สมชาย”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80160"/>
            <a:ext cx="3337560" cy="37947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1280160"/>
            <a:ext cx="333756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1463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38BDF8"/>
                </a:solidFill>
                <a:latin typeface="Leelawadee UI"/>
              </a:rPr>
              <a:t>นับโหวต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1 คน = 1 เสียง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194560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0704" y="2267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The Hunger Games 2 โหวต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670048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60704" y="2743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Dune 1 โหวต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145536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0704" y="32186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อื่น ๆ 1 โหวต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840480"/>
            <a:ext cx="2971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ปัญหาที่เจอ: เพื่อนทุกคนมีน้ำหนักเท่ากัน แม้รสนิยมจะใกล้ไม่เท่ากัน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1280160"/>
            <a:ext cx="3337560" cy="37947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61688" y="1280160"/>
            <a:ext cx="3337560" cy="822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44568" y="1463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34D399"/>
                </a:solidFill>
                <a:latin typeface="Leelawadee UI"/>
              </a:rPr>
              <a:t>ถ่วงน้ำหนัก (Jaccard)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18288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คะแนน = Σ ความคล้าย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2194560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72584" y="2267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The Hunger Games 0.833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2670048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672584" y="2743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Dune 0.500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4568" y="3145536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72584" y="32186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The Lightning Thief 0.333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840480"/>
            <a:ext cx="2971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แก้ปัญหาเดิม: คนรสนิยมใกล้สุดมีน้ำหนักมากสุด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1280160"/>
            <a:ext cx="3337560" cy="37947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973568" y="1280160"/>
            <a:ext cx="3337560" cy="82296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56448" y="1463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FF8833"/>
                </a:solidFill>
                <a:latin typeface="Leelawadee UI"/>
              </a:rPr>
              <a:t>ตามหมวด + ผสม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18288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เพื่อน 60% + หมวด 40%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2194560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84464" y="2267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The Hunger Games 0.600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6448" y="2670048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84464" y="2743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And Then There Were None 0.503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56448" y="3145536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284464" y="32186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Dune 0.400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3840480"/>
            <a:ext cx="2971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ช่วยผู้ใช้ใหม่ที่ยังไม่มีความคล้ายกับใคร (cold start)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2578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FF8833"/>
                </a:solidFill>
                <a:latin typeface="Leelawadee UI"/>
              </a:rPr>
              <a:t>สูตรถ่วงน้ำหนัก:  </a:t>
            </a:r>
            <a:r>
              <a:rPr sz="1200" b="0">
                <a:solidFill>
                  <a:srgbClr val="E9EFFA"/>
                </a:solidFill>
                <a:latin typeface="Leelawadee UI"/>
              </a:rPr>
              <a:t>Jaccard(เรา, เขา) = |หนังสือที่ชอบร่วมกัน| ÷ |หนังสือของสองคนรวมกัน|  → ใช้เป็นน้ำหนักโหวตของแต่ละคน แล้วบวกกันเป็นคะแนนของเล่มนั้น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9FB0CB"/>
                </a:solidFill>
                <a:latin typeface="Leelawadee UI"/>
              </a:rPr>
              <a:t>ทุกคำแนะนำอธิบายย้อนหลังได้: บอกได้ว่าเล่มนี้มาจากเพื่อนคนไหน และเพราะคุณชอบเล่มอะไร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สาธิตการใช้งาน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เดโมสด: เพิ่มความชอบ → คำแนะนำเปลี่ยนทันที (ไม่ต้องเทรนโมเดลใหม่)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10</a:t>
            </a:r>
          </a:p>
        </p:txBody>
      </p:sp>
      <p:pic>
        <p:nvPicPr>
          <p:cNvPr id="8" name="Picture 7" descr="app_demo.png"/>
          <p:cNvPicPr>
            <a:picLocks noChangeAspect="1"/>
          </p:cNvPicPr>
          <p:nvPr/>
        </p:nvPicPr>
        <p:blipFill>
          <a:blip r:embed="rId2"/>
          <a:srcRect l="5942" r="5942"/>
          <a:stretch>
            <a:fillRect/>
          </a:stretch>
        </p:blipFill>
        <p:spPr>
          <a:xfrm>
            <a:off x="749808" y="1234440"/>
            <a:ext cx="6949440" cy="4206240"/>
          </a:xfrm>
          <a:prstGeom prst="rect">
            <a:avLst/>
          </a:prstGeom>
          <a:ln w="12700">
            <a:solidFill>
              <a:srgbClr val="2B3A5C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909560" y="123444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19872" y="1371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สาธิตตามลำดับนี้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9872" y="17830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Leelawadee UI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เปิดหน้า “เดโมสด: เพิ่มความชอบ”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23500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Leelawadee UI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50008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เลือกเล่มที่ต้องการเพิ่ม (เช่น The Martian)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91693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Leelawadee UI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916936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กด “➕ เพิ่มความชอบ” → เขียนลง Neo4j ทันที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348386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Leelawadee UI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483864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ตารางเทียบ ก่อน/หลัง จะโชว์ว่าคำแนะนำเปลี่ยนเป็นเล่มใหม่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4050791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Leelawadee UI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050791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ลบข้อมูลที่เพิ่ม เพื่อคืนสภาพเดิม (กดปุ่มลบได้)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46177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Leelawadee UI"/>
              </a:rP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617720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สลับวิธีให้คะแนนเพื่อโชว์ผลต่างของแต่ละวิธี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6235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9FB0CB"/>
                </a:solidFill>
                <a:latin typeface="Leelawadee UI"/>
              </a:rPr>
              <a:t>จุดที่ทำให้ระบบนี้ “เป็นระบบของตัวเอง”: อัลกอริทึมของเรา + ข้อมูลของเรา + หน้าจอของเรา และเขียนคำสั่งกราฟเองทั้งหมด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ระบบทำงานจริง (3)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คลังหนังสือ 28 เล่ม — ค้นหาได้ และแสดงปกครบทุกเล่ม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11</a:t>
            </a:r>
          </a:p>
        </p:txBody>
      </p:sp>
      <p:pic>
        <p:nvPicPr>
          <p:cNvPr id="8" name="Picture 7" descr="app_catalog.png"/>
          <p:cNvPicPr>
            <a:picLocks noChangeAspect="1"/>
          </p:cNvPicPr>
          <p:nvPr/>
        </p:nvPicPr>
        <p:blipFill>
          <a:blip r:embed="rId2"/>
          <a:srcRect t="31138" b="31138"/>
          <a:stretch>
            <a:fillRect/>
          </a:stretch>
        </p:blipFill>
        <p:spPr>
          <a:xfrm>
            <a:off x="749808" y="1207008"/>
            <a:ext cx="7223760" cy="4937760"/>
          </a:xfrm>
          <a:prstGeom prst="rect">
            <a:avLst/>
          </a:prstGeom>
          <a:ln w="12700">
            <a:solidFill>
              <a:srgbClr val="2B3A5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0" y="13258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สิ่งที่หน้าแสดง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182880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67344" y="1737360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ค้นหาด้วยชื่อเรื่อง / นักเขียน / หมวด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2139696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67344" y="2048255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แต่ละการ์ด: ปก + ชื่อ + หมวด + จำนวนคนที่ชอบ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2450591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67344" y="2359151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ใช้ตรวจว่าข้อมูลในกราฟครบ 28 เล่มจริง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291840"/>
            <a:ext cx="3200400" cy="28346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0" y="3429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Leelawadee UI"/>
              </a:rPr>
              <a:t>เทคโนโลยีที่ใช้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40480"/>
            <a:ext cx="28346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E9EFFA"/>
                </a:solidFill>
                <a:latin typeface="Leelawadee UI"/>
              </a:rPr>
              <a:t>Neo4j</a:t>
            </a:r>
            <a:r>
              <a:rPr sz="1150" b="0">
                <a:solidFill>
                  <a:srgbClr val="9FB0CB"/>
                </a:solidFill>
                <a:latin typeface="Leelawadee UI"/>
              </a:rPr>
              <a:t> — ฐานข้อมูลกราฟ (Cypher)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E9EFFA"/>
                </a:solidFill>
                <a:latin typeface="Leelawadee UI"/>
              </a:rPr>
              <a:t>Streamlit</a:t>
            </a:r>
            <a:r>
              <a:rPr sz="1150" b="0">
                <a:solidFill>
                  <a:srgbClr val="9FB0CB"/>
                </a:solidFill>
                <a:latin typeface="Leelawadee UI"/>
              </a:rPr>
              <a:t> — ส่วนติดต่อผู้ใช้บนเว็บ (ฟรี)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E9EFFA"/>
                </a:solidFill>
                <a:latin typeface="Leelawadee UI"/>
              </a:rPr>
              <a:t>networkx + matplotlib</a:t>
            </a:r>
            <a:r>
              <a:rPr sz="1150" b="0">
                <a:solidFill>
                  <a:srgbClr val="9FB0CB"/>
                </a:solidFill>
                <a:latin typeface="Leelawadee UI"/>
              </a:rPr>
              <a:t> — วาดกราฟความสัมพันธ์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E9EFFA"/>
                </a:solidFill>
                <a:latin typeface="Leelawadee UI"/>
              </a:rPr>
              <a:t>Open Library API</a:t>
            </a:r>
            <a:r>
              <a:rPr sz="1150" b="0">
                <a:solidFill>
                  <a:srgbClr val="9FB0CB"/>
                </a:solidFill>
                <a:latin typeface="Leelawadee UI"/>
              </a:rPr>
              <a:t> — ข้อมูลและภาพปก (ฟรี)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E9EFFA"/>
                </a:solidFill>
                <a:latin typeface="Leelawadee UI"/>
              </a:rPr>
              <a:t>Colab + gist</a:t>
            </a:r>
            <a:r>
              <a:rPr sz="1150" b="0">
                <a:solidFill>
                  <a:srgbClr val="9FB0CB"/>
                </a:solidFill>
                <a:latin typeface="Leelawadee UI"/>
              </a:rPr>
              <a:t> — โน๊ตบุ๊กอธิบายวิธีทำ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ระบบทำงานจริง (4)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ภาพกราฟความสัมพันธ์ที่ระบบวาดเอง (ผู้ใช้ ↔ หนังสือ)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12</a:t>
            </a:r>
          </a:p>
        </p:txBody>
      </p:sp>
      <p:pic>
        <p:nvPicPr>
          <p:cNvPr id="8" name="Picture 7" descr="graph_somch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327" y="1234440"/>
            <a:ext cx="8096864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5486400"/>
            <a:ext cx="2057400" cy="56692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96112" y="5687568"/>
            <a:ext cx="146304" cy="14630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33856" y="5614416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ส้ม = ผู้ใช้ที่เลือก (สมชาย)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5486400"/>
            <a:ext cx="2057400" cy="56692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108960" y="5687568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46703" y="5614416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ฟ้า = ผู้ใช้รสนิยมใกล้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5486400"/>
            <a:ext cx="2057400" cy="56692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321808" y="568756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559552" y="5614416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เหลือง = หนังสือที่ชอบแล้ว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8352" y="5486400"/>
            <a:ext cx="2057400" cy="56692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534656" y="56875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0" y="5614416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เขียว = หนังสือที่แนะนำ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5486400"/>
            <a:ext cx="2057400" cy="56692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747504" y="56875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985248" y="5614416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เส้นประ = เส้นทาง 3 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406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ทดสอบระบบ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Cold start และการเทียบกับ baseline ยอดนิยม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8016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ผู้ใช้ใหม่ที่ชอบเล่มเดียว (ที่ยังไม่มีใครชอบ)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800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ผู้ใช้ใหม่ชอบ: One-Punch Man, Vol. 1 (หมวดการ์ตูน)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9FB0CB"/>
                </a:solidFill>
                <a:latin typeface="Leelawadee UI"/>
              </a:rPr>
              <a:t>ผลจากสัญญาณเพื่อน</a:t>
            </a:r>
            <a:r>
              <a:rPr sz="1200" b="0">
                <a:solidFill>
                  <a:srgbClr val="F87171"/>
                </a:solidFill>
                <a:latin typeface="Leelawadee UI"/>
              </a:rPr>
              <a:t> → ว่างเปล่า (cold start จริง)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9FB0CB"/>
                </a:solidFill>
                <a:latin typeface="Leelawadee UI"/>
              </a:rPr>
              <a:t>ผลจากสัญญาณหมวดหนังสือ</a:t>
            </a:r>
            <a:r>
              <a:rPr sz="1200" b="1">
                <a:solidFill>
                  <a:srgbClr val="34D399"/>
                </a:solidFill>
                <a:latin typeface="Leelawadee UI"/>
              </a:rPr>
              <a:t> → Death Note Vol. 1 · One Piece Vol. 1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บทสรุป: ถ้าใช้เฉพาะ collaborative filtering ผู้ใช้แบบนี้จะไม่ได้คำแนะนำเลย แต่เพราะมีโหนด Genre ระบบจึงยังแนะนำได้ — และเมื่อผู้ใช้ใหม่มีความชอบเพิ่ม คำแนะนำจะเปลี่ยนไปตามเพื่อนที่รสนิยมตรงกัน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138928" cy="40233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เทียบกับ baseline ‘ยอดนิยม’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874519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1984248"/>
            <a:ext cx="42976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แนะนำแบบไม่ดูว่าใครเป็นใคร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58568"/>
            <a:ext cx="429767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(b:Book)&lt;-[:LIKES]-(u:User)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RETURN b.title, count(u) AS likes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ORDER BY likes DESC LIMIT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8328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Harry Potter · The Hobbit · The Hunger Games (3 คน)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00" b="1">
                <a:solidFill>
                  <a:srgbClr val="F87171"/>
                </a:solidFill>
                <a:latin typeface="Leelawadee UI"/>
              </a:rPr>
              <a:t>ทุกคนจะได้ลิสต์เดียวกันเสมอ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Leelawadee UI"/>
              </a:rPr>
              <a:t>ระบบของเราดีกว่า เพราะดูความคล้ายของแต่ละคน</a:t>
            </a:r>
            <a:r>
              <a:rPr sz="1150" b="0">
                <a:solidFill>
                  <a:srgbClr val="9FB0CB"/>
                </a:solidFill>
                <a:latin typeface="Leelawadee UI"/>
              </a:rPr>
              <a:t> — สมชายได้ Hunger Games แต่ ‘ธนกร’ ได้ Dune/Frankenstein/The Martian และ ‘มินต์’ ได้สายพัฒนาตัวเอง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440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ผลรันจริงจากโน๊ตบุ๊ก (ฝัง output ในไฟล์ส่ง): ทุกเซลล์รันผ่าน · การ์ดภาพปกปรากฏ 16 จุด · ฐานข้อมูลกลับสู่สภาพ 12/28/51 หลังทดลอง cold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ผลตรวจสอบจริง (ไม่ใช่คำอธิบาย)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80160"/>
            <a:ext cx="10698480" cy="80467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1280160"/>
            <a:ext cx="68580" cy="8046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13898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E9EFFA"/>
                </a:solidFill>
                <a:latin typeface="Leelawadee UI"/>
              </a:rPr>
              <a:t>โหลดข้อมูลเข้า Neo4j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38BDF8"/>
                </a:solidFill>
                <a:latin typeface="Leelawadee UI"/>
              </a:rPr>
              <a:t>tools/load_neo4j.py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63039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34D399"/>
                </a:solidFill>
                <a:latin typeface="Leelawadee UI"/>
              </a:rPr>
              <a:t>12 ผู้ใช้ · 28 หนังสือ · 51 LIKES · 14 Genre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194560"/>
            <a:ext cx="10698480" cy="80467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49808" y="2194560"/>
            <a:ext cx="68580" cy="8046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23042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E9EFFA"/>
                </a:solidFill>
                <a:latin typeface="Leelawadee UI"/>
              </a:rPr>
              <a:t>ความสอดคล้อง 2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334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38BDF8"/>
                </a:solidFill>
                <a:latin typeface="Leelawadee UI"/>
              </a:rPr>
              <a:t>tools/consistency_test.py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774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34D399"/>
                </a:solidFill>
                <a:latin typeface="Leelawadee UI"/>
              </a:rPr>
              <a:t>Cypher (Neo4j) กับ backend สำรองให้ผลตรงกัน 12 คน × 5 การตรวจ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108960"/>
            <a:ext cx="10698480" cy="80467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49808" y="3108960"/>
            <a:ext cx="68580" cy="8046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20" y="32186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E9EFFA"/>
                </a:solidFill>
                <a:latin typeface="Leelawadee UI"/>
              </a:rPr>
              <a:t>โน๊ตบุ๊กทั้งเล่ม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478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38BDF8"/>
                </a:solidFill>
                <a:latin typeface="Leelawadee UI"/>
              </a:rPr>
              <a:t>py -3.13 tools/verify_ipynb_cells.py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918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34D399"/>
                </a:solidFill>
                <a:latin typeface="Leelawadee UI"/>
              </a:rPr>
              <a:t>VERDICT: PASS — ทุก code cell รันได้ (12 เซลล์)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023360"/>
            <a:ext cx="10698480" cy="80467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49808" y="4023360"/>
            <a:ext cx="68580" cy="80467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20" y="41330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E9EFFA"/>
                </a:solidFill>
                <a:latin typeface="Leelawadee UI"/>
              </a:rPr>
              <a:t>ภาพปกครบถ้วน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622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38BDF8"/>
                </a:solidFill>
                <a:latin typeface="Leelawadee UI"/>
              </a:rPr>
              <a:t>contact sheet + ตรวจด้วยสายตา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2062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FBBF24"/>
                </a:solidFill>
                <a:latin typeface="Leelawadee UI"/>
              </a:rPr>
              <a:t>28/28 เล่มมีปกจริง (แก้ 2 เล่มที่เป็นภาพเปล่า)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37760"/>
            <a:ext cx="10698480" cy="80467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49808" y="4937760"/>
            <a:ext cx="68580" cy="8046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0120" y="50474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E9EFFA"/>
                </a:solidFill>
                <a:latin typeface="Leelawadee UI"/>
              </a:rPr>
              <a:t>หน้าจอแอปจริง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766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38BDF8"/>
                </a:solidFill>
                <a:latin typeface="Leelawadee UI"/>
              </a:rPr>
              <a:t>tools/shots.py (Playwright)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1206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34D399"/>
                </a:solidFill>
                <a:latin typeface="Leelawadee UI"/>
              </a:rPr>
              <a:t>ถ่าย 6 ภาพ ทุกแท็บแสดงปกครบ ไม่มีภาพพัง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897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หมายเหตุ: ผลการรันในโน๊ตบุ๊กมาจาก Neo4j ที่ทดสอบในเครื่อง (เซลล์เชื่อมต่อยังคงเป็นบัญชีของเรา พร้อมรหัสผ่านที่กรอกเองตอนรันบน Colab)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การใช้งานและลิงก์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เปิดดูได้ทันที / รันเองได้ใน 3 คำสั่ง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258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1325880"/>
            <a:ext cx="68580" cy="914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1453895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E9EFFA"/>
                </a:solidFill>
                <a:latin typeface="Leelawadee UI"/>
              </a:rPr>
              <a:t>โน๊ตบุ๊กอธิบายวิธีทำ (Colab)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38BDF8"/>
                </a:solidFill>
                <a:latin typeface="Leelawadee UI"/>
              </a:rPr>
              <a:t>https://colab.research.google.com/gist/Nasak16/247492673b9b3a74dd39bd7d442d398c/BookRecommender_Neo4j_007.ipynb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377439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49808" y="2377439"/>
            <a:ext cx="68580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250545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E9EFFA"/>
                </a:solidFill>
                <a:latin typeface="Leelawadee UI"/>
              </a:rPr>
              <a:t>โค้ดระบบทั้งหมด (GitHub)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52927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34D399"/>
                </a:solidFill>
                <a:latin typeface="Leelawadee UI"/>
              </a:rPr>
              <a:t>https://github.com/Nasak16/book-recommender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42900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49808" y="3429000"/>
            <a:ext cx="68580" cy="914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20" y="355701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E9EFFA"/>
                </a:solidFill>
                <a:latin typeface="Leelawadee UI"/>
              </a:rPr>
              <a:t>หน้า index รวมงานทุกชิ้น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04487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BBF24"/>
                </a:solidFill>
                <a:latin typeface="Leelawadee UI"/>
              </a:rPr>
              <a:t>https://nasak16.github.io/homework/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66344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773168"/>
            <a:ext cx="47548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รันในเครื่อง (3 คำสั่ง)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047488"/>
            <a:ext cx="4754879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py -3.13 -m pip install -r requirements.txt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py -3.13 tools/load_neo4j.py &lt;neo4j-uri&gt; neo4j &lt;password&gt;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py -3.13 -m streamlit run app.py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800600"/>
            <a:ext cx="5303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ถ้าต่อ Neo4j ไม่ได้ แอปจะสลับไปใช้ backend สำรองอัตโนมัติ และแจ้งเตือนบนแถบข้าง — หน้าจอและภาพปกยังทำงานครบถ้วน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รหัสผ่าน Neo4j ไม่ถูกอัปโหลด (อยู่ใน .gitignore) — ในโปรเจกต์มีแค่ไฟล์ตัวอย่าง secrets.toml.example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สรุป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ระบบแนะนำของเรา + สิ่งที่ต่อยอดได้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ระบบแนะนำหนังสือ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8016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Leelawadee UI"/>
              </a:rPr>
              <a:t>ได้อะไรจากงานนี้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97864" y="1828800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ระบบแนะนำที่ใช้ได้จริงบนฐานข้อมูลกราฟ + ข้อมูลของเราเอง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249424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97864" y="2157984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แสดงภาพปกจริงในผลการแนะนำ (ตามโจทย์ข้อ 1)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2578608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97864" y="2487168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คำแนะนำอธิบายย้อนหลังได้ และทดสอบ cold start แล้ว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2907791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97864" y="2816351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มีทั้งโน๊ตบุ๊ก เว็บแอปสไลด์ และหน้า index รวมงานบน GitHub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280160"/>
            <a:ext cx="5138928" cy="41148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37960" y="14173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Leelawadee UI"/>
              </a:rPr>
              <a:t>ข้อจำกัด และก้าวต่อไป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1920240"/>
            <a:ext cx="77724" cy="7772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75704" y="1828800"/>
            <a:ext cx="4425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ข้อมูล 51 ความชอบยังน้อย (sparsity) — เก็บจากผู้ใช้จริงเพิ่มจะแม่นขึ้น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249424"/>
            <a:ext cx="77724" cy="7772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75704" y="2157984"/>
            <a:ext cx="4425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ยังไม่มีคะแนนแบบ 1-5 ดาว จึงถ่วงน้ำหนักได้แค่ความคล้ายรสนิยม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578608"/>
            <a:ext cx="77724" cy="7772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75704" y="2487168"/>
            <a:ext cx="4425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ต่อยอด: ใช้ tag ละเอียดกว่า 14 หมวด, เพิ่ม PageRank/community detection, ทำระบบสมัครสมาชิกจริงบน Streamlit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6235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ขอบคุณครับ — ยินดีตอบคำถาม / สาธิตสดได้ทันที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